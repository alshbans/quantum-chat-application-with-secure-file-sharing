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311" r:id="rId6"/>
    <p:sldId id="306" r:id="rId7"/>
    <p:sldId id="307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6" r:id="rId20"/>
    <p:sldId id="309" r:id="rId21"/>
    <p:sldId id="313" r:id="rId22"/>
    <p:sldId id="314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D65688-91FE-AF99-FAED-C14C89E27385}" v="2" dt="2026-01-23T06:56:39.936"/>
    <p1510:client id="{5719B598-A7FD-4D74-289C-6CBF4E8E3211}" v="2" dt="2026-01-23T03:13:33.823"/>
    <p1510:client id="{627E8E08-CED9-CCDC-0DF8-67E736C60C75}" v="16" dt="2026-01-23T06:50:08.1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rnath K" userId="S::amarnath.k2023@vitstudent.ac.in::1e8929d0-687a-4e12-a344-423ab610d4cc" providerId="AD" clId="Web-{5719B598-A7FD-4D74-289C-6CBF4E8E3211}"/>
    <pc:docChg chg="modSld">
      <pc:chgData name="Amarnath K" userId="S::amarnath.k2023@vitstudent.ac.in::1e8929d0-687a-4e12-a344-423ab610d4cc" providerId="AD" clId="Web-{5719B598-A7FD-4D74-289C-6CBF4E8E3211}" dt="2026-01-23T03:13:33.823" v="1" actId="1076"/>
      <pc:docMkLst>
        <pc:docMk/>
      </pc:docMkLst>
      <pc:sldChg chg="modSp">
        <pc:chgData name="Amarnath K" userId="S::amarnath.k2023@vitstudent.ac.in::1e8929d0-687a-4e12-a344-423ab610d4cc" providerId="AD" clId="Web-{5719B598-A7FD-4D74-289C-6CBF4E8E3211}" dt="2026-01-23T03:13:33.823" v="1" actId="1076"/>
        <pc:sldMkLst>
          <pc:docMk/>
          <pc:sldMk cId="4199406301" sldId="316"/>
        </pc:sldMkLst>
        <pc:picChg chg="mod">
          <ac:chgData name="Amarnath K" userId="S::amarnath.k2023@vitstudent.ac.in::1e8929d0-687a-4e12-a344-423ab610d4cc" providerId="AD" clId="Web-{5719B598-A7FD-4D74-289C-6CBF4E8E3211}" dt="2026-01-23T03:13:33.823" v="1" actId="1076"/>
          <ac:picMkLst>
            <pc:docMk/>
            <pc:sldMk cId="4199406301" sldId="316"/>
            <ac:picMk id="4" creationId="{00000000-0000-0000-0000-000000000000}"/>
          </ac:picMkLst>
        </pc:picChg>
      </pc:sldChg>
    </pc:docChg>
  </pc:docChgLst>
  <pc:docChgLst>
    <pc:chgData name="Kakarla Lakshmi Prasad" userId="S::kakarla.lakshmi2023@vitstudent.ac.in::ee05004f-9213-415d-8aec-2074bb68282c" providerId="AD" clId="Web-{627E8E08-CED9-CCDC-0DF8-67E736C60C75}"/>
    <pc:docChg chg="modSld">
      <pc:chgData name="Kakarla Lakshmi Prasad" userId="S::kakarla.lakshmi2023@vitstudent.ac.in::ee05004f-9213-415d-8aec-2074bb68282c" providerId="AD" clId="Web-{627E8E08-CED9-CCDC-0DF8-67E736C60C75}" dt="2026-01-23T06:49:59.130" v="2" actId="20577"/>
      <pc:docMkLst>
        <pc:docMk/>
      </pc:docMkLst>
      <pc:sldChg chg="modSp">
        <pc:chgData name="Kakarla Lakshmi Prasad" userId="S::kakarla.lakshmi2023@vitstudent.ac.in::ee05004f-9213-415d-8aec-2074bb68282c" providerId="AD" clId="Web-{627E8E08-CED9-CCDC-0DF8-67E736C60C75}" dt="2026-01-23T06:44:27.593" v="1"/>
        <pc:sldMkLst>
          <pc:docMk/>
          <pc:sldMk cId="221321841" sldId="318"/>
        </pc:sldMkLst>
        <pc:picChg chg="mod modCrop">
          <ac:chgData name="Kakarla Lakshmi Prasad" userId="S::kakarla.lakshmi2023@vitstudent.ac.in::ee05004f-9213-415d-8aec-2074bb68282c" providerId="AD" clId="Web-{627E8E08-CED9-CCDC-0DF8-67E736C60C75}" dt="2026-01-23T06:44:27.593" v="1"/>
          <ac:picMkLst>
            <pc:docMk/>
            <pc:sldMk cId="221321841" sldId="318"/>
            <ac:picMk id="4" creationId="{00000000-0000-0000-0000-000000000000}"/>
          </ac:picMkLst>
        </pc:picChg>
      </pc:sldChg>
      <pc:sldChg chg="modSp">
        <pc:chgData name="Kakarla Lakshmi Prasad" userId="S::kakarla.lakshmi2023@vitstudent.ac.in::ee05004f-9213-415d-8aec-2074bb68282c" providerId="AD" clId="Web-{627E8E08-CED9-CCDC-0DF8-67E736C60C75}" dt="2026-01-23T06:49:59.130" v="2" actId="20577"/>
        <pc:sldMkLst>
          <pc:docMk/>
          <pc:sldMk cId="2410685582" sldId="320"/>
        </pc:sldMkLst>
        <pc:spChg chg="mod">
          <ac:chgData name="Kakarla Lakshmi Prasad" userId="S::kakarla.lakshmi2023@vitstudent.ac.in::ee05004f-9213-415d-8aec-2074bb68282c" providerId="AD" clId="Web-{627E8E08-CED9-CCDC-0DF8-67E736C60C75}" dt="2026-01-23T06:49:59.130" v="2" actId="20577"/>
          <ac:spMkLst>
            <pc:docMk/>
            <pc:sldMk cId="2410685582" sldId="320"/>
            <ac:spMk id="3" creationId="{00000000-0000-0000-0000-000000000000}"/>
          </ac:spMkLst>
        </pc:spChg>
      </pc:sldChg>
    </pc:docChg>
  </pc:docChgLst>
  <pc:docChgLst>
    <pc:chgData name="Divyabanu S" userId="S::divyabanu.s2023@vitstudent.ac.in::d2def9a2-4e12-4892-a1a4-bb48a2e19c3f" providerId="AD" clId="Web-{08D65688-91FE-AF99-FAED-C14C89E27385}"/>
    <pc:docChg chg="modSld">
      <pc:chgData name="Divyabanu S" userId="S::divyabanu.s2023@vitstudent.ac.in::d2def9a2-4e12-4892-a1a4-bb48a2e19c3f" providerId="AD" clId="Web-{08D65688-91FE-AF99-FAED-C14C89E27385}" dt="2026-01-23T06:56:39.936" v="1" actId="20577"/>
      <pc:docMkLst>
        <pc:docMk/>
      </pc:docMkLst>
      <pc:sldChg chg="modSp">
        <pc:chgData name="Divyabanu S" userId="S::divyabanu.s2023@vitstudent.ac.in::d2def9a2-4e12-4892-a1a4-bb48a2e19c3f" providerId="AD" clId="Web-{08D65688-91FE-AF99-FAED-C14C89E27385}" dt="2026-01-23T06:56:39.936" v="1" actId="20577"/>
        <pc:sldMkLst>
          <pc:docMk/>
          <pc:sldMk cId="3917110840" sldId="317"/>
        </pc:sldMkLst>
        <pc:spChg chg="mod">
          <ac:chgData name="Divyabanu S" userId="S::divyabanu.s2023@vitstudent.ac.in::d2def9a2-4e12-4892-a1a4-bb48a2e19c3f" providerId="AD" clId="Web-{08D65688-91FE-AF99-FAED-C14C89E27385}" dt="2026-01-23T06:56:39.936" v="1" actId="20577"/>
          <ac:spMkLst>
            <pc:docMk/>
            <pc:sldMk cId="3917110840" sldId="31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Reflection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449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81600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Reflection is an API that is used to </a:t>
            </a:r>
            <a:r>
              <a:rPr lang="en-US">
                <a:solidFill>
                  <a:srgbClr val="FF0000"/>
                </a:solidFill>
              </a:rPr>
              <a:t>examine or modify </a:t>
            </a:r>
            <a:r>
              <a:rPr lang="en-US"/>
              <a:t>the behavior of methods, classes, and interfaces at </a:t>
            </a:r>
            <a:r>
              <a:rPr lang="en-US">
                <a:solidFill>
                  <a:srgbClr val="FF0000"/>
                </a:solidFill>
              </a:rPr>
              <a:t>runtime</a:t>
            </a:r>
            <a:r>
              <a:rPr lang="en-US"/>
              <a:t>.</a:t>
            </a:r>
          </a:p>
          <a:p>
            <a:r>
              <a:rPr lang="en-US" b="1"/>
              <a:t>Java Reflection</a:t>
            </a:r>
            <a:r>
              <a:rPr lang="en-US"/>
              <a:t> is a </a:t>
            </a:r>
            <a:r>
              <a:rPr lang="en-US" i="1"/>
              <a:t>process of examining or modifying the run time behavior of a class at run time</a:t>
            </a:r>
            <a:r>
              <a:rPr lang="en-US"/>
              <a:t>.</a:t>
            </a:r>
          </a:p>
          <a:p>
            <a:r>
              <a:rPr lang="en-US"/>
              <a:t>This is provided by the </a:t>
            </a:r>
            <a:r>
              <a:rPr lang="en-US" b="1" err="1"/>
              <a:t>java.lang.reflect</a:t>
            </a:r>
            <a:r>
              <a:rPr lang="en-US" b="1"/>
              <a:t> </a:t>
            </a:r>
            <a:r>
              <a:rPr lang="en-US"/>
              <a:t>package and elements in </a:t>
            </a:r>
            <a:r>
              <a:rPr lang="en-US" b="1"/>
              <a:t>Class</a:t>
            </a:r>
            <a:r>
              <a:rPr lang="en-US"/>
              <a:t>. </a:t>
            </a:r>
          </a:p>
          <a:p>
            <a:r>
              <a:rPr lang="en-US"/>
              <a:t>Reflection is an important capability, especially when using components called Java Beans. </a:t>
            </a:r>
          </a:p>
          <a:p>
            <a:r>
              <a:rPr lang="en-US"/>
              <a:t>It allows you to </a:t>
            </a:r>
            <a:r>
              <a:rPr lang="en-US">
                <a:solidFill>
                  <a:srgbClr val="FF0000"/>
                </a:solidFill>
              </a:rPr>
              <a:t>analyze</a:t>
            </a:r>
            <a:r>
              <a:rPr lang="en-US"/>
              <a:t> a software component and describe its capabilities </a:t>
            </a:r>
            <a:r>
              <a:rPr lang="en-US">
                <a:solidFill>
                  <a:srgbClr val="FF0000"/>
                </a:solidFill>
              </a:rPr>
              <a:t>dynamically, at run time </a:t>
            </a:r>
            <a:r>
              <a:rPr lang="en-US"/>
              <a:t>rather than at compile time. </a:t>
            </a:r>
          </a:p>
          <a:p>
            <a:r>
              <a:rPr lang="en-US"/>
              <a:t>For example, by using reflection, you can determine what methods, constructors, and fields a class supports.</a:t>
            </a:r>
          </a:p>
        </p:txBody>
      </p:sp>
    </p:spTree>
    <p:extLst>
      <p:ext uri="{BB962C8B-B14F-4D97-AF65-F5344CB8AC3E}">
        <p14:creationId xmlns:p14="http://schemas.microsoft.com/office/powerpoint/2010/main" val="33568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The package </a:t>
            </a:r>
            <a:r>
              <a:rPr lang="en-US" b="1" err="1"/>
              <a:t>java.lang.reflect</a:t>
            </a:r>
            <a:r>
              <a:rPr lang="en-US" b="1"/>
              <a:t> </a:t>
            </a:r>
            <a:r>
              <a:rPr lang="en-US"/>
              <a:t>includes several interfaces. </a:t>
            </a:r>
          </a:p>
          <a:p>
            <a:r>
              <a:rPr lang="en-US" b="1"/>
              <a:t>Member interface</a:t>
            </a:r>
            <a:r>
              <a:rPr lang="en-US"/>
              <a:t>, defines methods that allow you to get information about a field, constructor, or method of a class. </a:t>
            </a:r>
          </a:p>
          <a:p>
            <a:r>
              <a:rPr lang="en-US"/>
              <a:t>There are also ten classes in this package.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b="1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Blueprint Analogy:</a:t>
            </a:r>
            <a:r>
              <a:rPr lang="en-US" altLang="en-US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Explain that a standard Object is a </a:t>
            </a:r>
            <a:r>
              <a:rPr lang="en-US" altLang="en-US" i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house</a:t>
            </a:r>
            <a:r>
              <a:rPr lang="en-US" altLang="en-US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The </a:t>
            </a:r>
            <a:r>
              <a:rPr lang="en-US" altLang="en-US" sz="2400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Class</a:t>
            </a:r>
            <a:r>
              <a:rPr lang="en-US" altLang="en-US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object (used in reflection) is the </a:t>
            </a:r>
            <a:r>
              <a:rPr lang="en-US" altLang="en-US" i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blueprint</a:t>
            </a:r>
            <a:r>
              <a:rPr lang="en-US" altLang="en-US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that house.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Reflection allows you to look at the blueprint while the house is being built to decide where to put the windows, rather than following a fixed plan.</a:t>
            </a:r>
            <a:endParaRPr lang="en-US" altLang="en-US" sz="4800">
              <a:latin typeface="Arial" panose="020B0604020202020204" pitchFamily="34" charset="0"/>
            </a:endParaRP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989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65" t="29564" r="11986" b="23413"/>
          <a:stretch/>
        </p:blipFill>
        <p:spPr bwMode="auto">
          <a:xfrm>
            <a:off x="-3629" y="736601"/>
            <a:ext cx="9147629" cy="5511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764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/>
              <a:t>Reflection of Java Classes</a:t>
            </a:r>
            <a:br>
              <a:rPr lang="en-IN" b="1"/>
            </a:b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In order to reflect a Java class, we first need to </a:t>
            </a:r>
            <a:r>
              <a:rPr lang="en-IN">
                <a:solidFill>
                  <a:srgbClr val="FF0000"/>
                </a:solidFill>
              </a:rPr>
              <a:t>create an object </a:t>
            </a:r>
            <a:r>
              <a:rPr lang="en-IN"/>
              <a:t>of Class.</a:t>
            </a:r>
          </a:p>
          <a:p>
            <a:r>
              <a:rPr lang="en-IN"/>
              <a:t>And, using the object we can call various methods to get information about </a:t>
            </a:r>
            <a:r>
              <a:rPr lang="en-IN">
                <a:solidFill>
                  <a:srgbClr val="FF0000"/>
                </a:solidFill>
              </a:rPr>
              <a:t>methods, fields, and constructors</a:t>
            </a:r>
            <a:r>
              <a:rPr lang="en-IN"/>
              <a:t> present in a class.</a:t>
            </a:r>
          </a:p>
          <a:p>
            <a:r>
              <a:rPr lang="en-IN"/>
              <a:t>There exists three ways to create objects of Class: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078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457200"/>
            <a:ext cx="8153400" cy="566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406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904490"/>
          </a:xfrm>
        </p:spPr>
        <p:txBody>
          <a:bodyPr vert="horz" lIns="91440" tIns="45720" rIns="91440" bIns="45720" numCol="2" rtlCol="0" anchor="t">
            <a:normAutofit fontScale="47500" lnSpcReduction="20000"/>
          </a:bodyPr>
          <a:lstStyle/>
          <a:p>
            <a:pPr marL="0" indent="0">
              <a:buNone/>
            </a:pPr>
            <a:r>
              <a:rPr lang="en-IN"/>
              <a:t>import </a:t>
            </a:r>
            <a:r>
              <a:rPr lang="en-IN" err="1"/>
              <a:t>java.lang.Class</a:t>
            </a:r>
            <a:r>
              <a:rPr lang="en-IN"/>
              <a:t>;</a:t>
            </a:r>
          </a:p>
          <a:p>
            <a:pPr marL="0" indent="0">
              <a:buNone/>
            </a:pPr>
            <a:r>
              <a:rPr lang="en-IN"/>
              <a:t>import </a:t>
            </a:r>
            <a:r>
              <a:rPr lang="en-IN" err="1"/>
              <a:t>java.lang.reflect</a:t>
            </a:r>
            <a:r>
              <a:rPr lang="en-IN"/>
              <a:t>.*;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class Animal {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}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// put this class in different Dog.java file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public class Dog extends Animal {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  public void display() {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    </a:t>
            </a:r>
            <a:r>
              <a:rPr lang="en-IN" err="1"/>
              <a:t>System.out.println</a:t>
            </a:r>
            <a:r>
              <a:rPr lang="en-IN"/>
              <a:t>("I am a dog.");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  }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}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// put this in Main.java file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class Main {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  public static void main(String[] </a:t>
            </a:r>
            <a:r>
              <a:rPr lang="en-IN" err="1"/>
              <a:t>args</a:t>
            </a:r>
            <a:r>
              <a:rPr lang="en-IN"/>
              <a:t>) {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    try {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      // create an object of Dog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      Dog d1 = new Dog();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   // create an object of Class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      // using </a:t>
            </a:r>
            <a:r>
              <a:rPr lang="en-IN" err="1"/>
              <a:t>getClass</a:t>
            </a:r>
            <a:r>
              <a:rPr lang="en-IN"/>
              <a:t>()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      Class </a:t>
            </a:r>
            <a:r>
              <a:rPr lang="en-IN" err="1"/>
              <a:t>obj</a:t>
            </a:r>
            <a:r>
              <a:rPr lang="en-IN"/>
              <a:t> = d1.getClass();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   // get name of the class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      String name = </a:t>
            </a:r>
            <a:r>
              <a:rPr lang="en-IN" err="1"/>
              <a:t>obj.getName</a:t>
            </a:r>
            <a:r>
              <a:rPr lang="en-IN"/>
              <a:t>();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      </a:t>
            </a:r>
            <a:r>
              <a:rPr lang="en-IN" err="1"/>
              <a:t>System.out.println</a:t>
            </a:r>
            <a:r>
              <a:rPr lang="en-IN"/>
              <a:t>("Name: " + name);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   // get the access modifier of the class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      int modifier = </a:t>
            </a:r>
            <a:r>
              <a:rPr lang="en-IN" err="1"/>
              <a:t>obj.getModifiers</a:t>
            </a:r>
            <a:r>
              <a:rPr lang="en-IN"/>
              <a:t>();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   // convert the access modifier to string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      String mod = </a:t>
            </a:r>
            <a:r>
              <a:rPr lang="en-IN" err="1"/>
              <a:t>Modifier.toString</a:t>
            </a:r>
            <a:r>
              <a:rPr lang="en-IN"/>
              <a:t>(modifier);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      </a:t>
            </a:r>
            <a:r>
              <a:rPr lang="en-IN" err="1"/>
              <a:t>System.out.println</a:t>
            </a:r>
            <a:r>
              <a:rPr lang="en-IN"/>
              <a:t>("Modifier: " + mod);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   // get the superclass of Dog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      Class </a:t>
            </a:r>
            <a:r>
              <a:rPr lang="en-IN" err="1"/>
              <a:t>superClass</a:t>
            </a:r>
            <a:r>
              <a:rPr lang="en-IN"/>
              <a:t> = </a:t>
            </a:r>
            <a:r>
              <a:rPr lang="en-IN" err="1"/>
              <a:t>obj.getSuperclass</a:t>
            </a:r>
            <a:r>
              <a:rPr lang="en-IN"/>
              <a:t>();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      </a:t>
            </a:r>
            <a:r>
              <a:rPr lang="en-IN" err="1"/>
              <a:t>System.out.println</a:t>
            </a:r>
            <a:r>
              <a:rPr lang="en-IN"/>
              <a:t>("Superclass: " + </a:t>
            </a:r>
            <a:r>
              <a:rPr lang="en-IN" err="1"/>
              <a:t>superClass.getName</a:t>
            </a:r>
            <a:r>
              <a:rPr lang="en-IN"/>
              <a:t>());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    }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 catch (Exception e) {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      </a:t>
            </a:r>
            <a:r>
              <a:rPr lang="en-IN" err="1"/>
              <a:t>e.printStackTrace</a:t>
            </a:r>
            <a:r>
              <a:rPr lang="en-IN"/>
              <a:t>();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    }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  }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/>
              <a:t>}</a:t>
            </a:r>
            <a:endParaRPr lang="en-IN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7110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l="-909" t="3643" r="781" b="-3474"/>
          <a:stretch>
            <a:fillRect/>
          </a:stretch>
        </p:blipFill>
        <p:spPr>
          <a:xfrm>
            <a:off x="381001" y="232916"/>
            <a:ext cx="8382000" cy="63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21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638"/>
            <a:ext cx="8229600" cy="483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441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 vert="horz" lIns="91440" tIns="45720" rIns="91440" bIns="45720" numCol="2" rtlCol="0" anchor="t">
            <a:normAutofit fontScale="40000" lnSpcReduction="20000"/>
          </a:bodyPr>
          <a:lstStyle/>
          <a:p>
            <a:pPr marL="0" indent="0">
              <a:buNone/>
            </a:pPr>
            <a:r>
              <a:rPr lang="en-IN"/>
              <a:t>import </a:t>
            </a:r>
            <a:r>
              <a:rPr lang="en-IN" err="1"/>
              <a:t>java.lang.Class</a:t>
            </a:r>
            <a:r>
              <a:rPr lang="en-IN"/>
              <a:t>;</a:t>
            </a:r>
          </a:p>
          <a:p>
            <a:pPr marL="0" indent="0">
              <a:buNone/>
            </a:pPr>
            <a:r>
              <a:rPr lang="en-IN"/>
              <a:t>import </a:t>
            </a:r>
            <a:r>
              <a:rPr lang="en-IN" err="1"/>
              <a:t>java.lang.reflect</a:t>
            </a:r>
            <a:r>
              <a:rPr lang="en-IN"/>
              <a:t>.*;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class Dog {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</a:t>
            </a:r>
            <a:r>
              <a:rPr lang="en-IN">
                <a:solidFill>
                  <a:srgbClr val="FF0000"/>
                </a:solidFill>
              </a:rPr>
              <a:t>// methods of the class</a:t>
            </a:r>
          </a:p>
          <a:p>
            <a:pPr marL="0" indent="0">
              <a:buNone/>
            </a:pPr>
            <a:r>
              <a:rPr lang="en-IN"/>
              <a:t>  public void display() {</a:t>
            </a:r>
          </a:p>
          <a:p>
            <a:pPr marL="0" indent="0">
              <a:buNone/>
            </a:pPr>
            <a:r>
              <a:rPr lang="en-IN"/>
              <a:t>    </a:t>
            </a:r>
            <a:r>
              <a:rPr lang="en-IN" err="1"/>
              <a:t>System.out.println</a:t>
            </a:r>
            <a:r>
              <a:rPr lang="en-IN"/>
              <a:t>("I am a dog.");</a:t>
            </a:r>
          </a:p>
          <a:p>
            <a:pPr marL="0" indent="0">
              <a:buNone/>
            </a:pPr>
            <a:r>
              <a:rPr lang="en-IN"/>
              <a:t>  }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private void </a:t>
            </a:r>
            <a:r>
              <a:rPr lang="en-IN" err="1"/>
              <a:t>makeSound</a:t>
            </a:r>
            <a:r>
              <a:rPr lang="en-IN"/>
              <a:t>() {</a:t>
            </a:r>
          </a:p>
          <a:p>
            <a:pPr marL="0" indent="0">
              <a:buNone/>
            </a:pPr>
            <a:r>
              <a:rPr lang="en-IN"/>
              <a:t>    </a:t>
            </a:r>
            <a:r>
              <a:rPr lang="en-IN" err="1"/>
              <a:t>System.out.println</a:t>
            </a:r>
            <a:r>
              <a:rPr lang="en-IN"/>
              <a:t>("Bark Bark");</a:t>
            </a:r>
          </a:p>
          <a:p>
            <a:pPr marL="0" indent="0">
              <a:buNone/>
            </a:pPr>
            <a:r>
              <a:rPr lang="en-IN"/>
              <a:t>  }</a:t>
            </a:r>
          </a:p>
          <a:p>
            <a:pPr marL="0" indent="0">
              <a:buNone/>
            </a:pPr>
            <a:r>
              <a:rPr lang="en-IN"/>
              <a:t>}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class Main {</a:t>
            </a:r>
          </a:p>
          <a:p>
            <a:pPr marL="0" indent="0">
              <a:buNone/>
            </a:pPr>
            <a:r>
              <a:rPr lang="en-IN"/>
              <a:t>  public static void main(String[] </a:t>
            </a:r>
            <a:r>
              <a:rPr lang="en-IN" err="1"/>
              <a:t>args</a:t>
            </a:r>
            <a:r>
              <a:rPr lang="en-IN"/>
              <a:t>) {</a:t>
            </a:r>
          </a:p>
          <a:p>
            <a:pPr marL="0" indent="0">
              <a:buNone/>
            </a:pPr>
            <a:r>
              <a:rPr lang="en-IN"/>
              <a:t>    try {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   // create an object of Dog</a:t>
            </a:r>
          </a:p>
          <a:p>
            <a:pPr marL="0" indent="0">
              <a:buNone/>
            </a:pPr>
            <a:r>
              <a:rPr lang="en-IN"/>
              <a:t>      Dog d1 = new Dog();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   // create an object of Class</a:t>
            </a:r>
          </a:p>
          <a:p>
            <a:pPr marL="0" indent="0">
              <a:buNone/>
            </a:pPr>
            <a:r>
              <a:rPr lang="en-IN"/>
              <a:t>      // using </a:t>
            </a:r>
            <a:r>
              <a:rPr lang="en-IN" err="1"/>
              <a:t>getClass</a:t>
            </a:r>
            <a:r>
              <a:rPr lang="en-IN"/>
              <a:t>()</a:t>
            </a:r>
          </a:p>
          <a:p>
            <a:pPr marL="0" indent="0">
              <a:buNone/>
            </a:pPr>
            <a:r>
              <a:rPr lang="en-IN"/>
              <a:t>      Class </a:t>
            </a:r>
            <a:r>
              <a:rPr lang="en-IN" err="1"/>
              <a:t>obj</a:t>
            </a:r>
            <a:r>
              <a:rPr lang="en-IN"/>
              <a:t> = d1.getClass();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   // using object of Class to</a:t>
            </a:r>
          </a:p>
          <a:p>
            <a:pPr marL="0" indent="0">
              <a:buNone/>
            </a:pPr>
            <a:r>
              <a:rPr lang="en-IN"/>
              <a:t>      // get all the declared methods of Dog</a:t>
            </a:r>
          </a:p>
          <a:p>
            <a:pPr marL="0" indent="0">
              <a:buNone/>
            </a:pPr>
            <a:r>
              <a:rPr lang="en-IN"/>
              <a:t>      Method[] methods = </a:t>
            </a:r>
            <a:r>
              <a:rPr lang="en-IN" err="1"/>
              <a:t>obj.getDeclaredMethods</a:t>
            </a:r>
            <a:r>
              <a:rPr lang="en-IN"/>
              <a:t>();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   // create an object of the Method class</a:t>
            </a:r>
          </a:p>
          <a:p>
            <a:pPr marL="0" indent="0">
              <a:buNone/>
            </a:pPr>
            <a:r>
              <a:rPr lang="en-IN"/>
              <a:t>      for (Method m : methods) {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     // get names of methods</a:t>
            </a:r>
          </a:p>
          <a:p>
            <a:pPr marL="0" indent="0">
              <a:buNone/>
            </a:pPr>
            <a:r>
              <a:rPr lang="en-IN"/>
              <a:t>        </a:t>
            </a:r>
            <a:r>
              <a:rPr lang="en-IN" err="1"/>
              <a:t>System.out.println</a:t>
            </a:r>
            <a:r>
              <a:rPr lang="en-IN"/>
              <a:t>("Method Name: " + </a:t>
            </a:r>
            <a:r>
              <a:rPr lang="en-IN" err="1"/>
              <a:t>m.getName</a:t>
            </a:r>
            <a:r>
              <a:rPr lang="en-IN"/>
              <a:t>());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     // get the access modifier of methods</a:t>
            </a:r>
          </a:p>
          <a:p>
            <a:pPr marL="0" indent="0">
              <a:buNone/>
            </a:pPr>
            <a:r>
              <a:rPr lang="en-IN"/>
              <a:t>        </a:t>
            </a:r>
            <a:r>
              <a:rPr lang="en-IN" err="1"/>
              <a:t>int</a:t>
            </a:r>
            <a:r>
              <a:rPr lang="en-IN"/>
              <a:t> modifier = </a:t>
            </a:r>
            <a:r>
              <a:rPr lang="en-IN" err="1"/>
              <a:t>m.getModifiers</a:t>
            </a:r>
            <a:r>
              <a:rPr lang="en-IN"/>
              <a:t>();</a:t>
            </a:r>
          </a:p>
          <a:p>
            <a:pPr marL="0" indent="0">
              <a:buNone/>
            </a:pPr>
            <a:r>
              <a:rPr lang="en-IN"/>
              <a:t>        </a:t>
            </a:r>
            <a:r>
              <a:rPr lang="en-IN" err="1"/>
              <a:t>System.out.println</a:t>
            </a:r>
            <a:r>
              <a:rPr lang="en-IN"/>
              <a:t>("Modifier: " + </a:t>
            </a:r>
            <a:r>
              <a:rPr lang="en-IN" err="1"/>
              <a:t>Modifier.toString</a:t>
            </a:r>
            <a:r>
              <a:rPr lang="en-IN"/>
              <a:t>(modifier));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     // get the return types of method</a:t>
            </a:r>
          </a:p>
          <a:p>
            <a:pPr marL="0" indent="0">
              <a:buNone/>
            </a:pPr>
            <a:r>
              <a:rPr lang="en-IN"/>
              <a:t>        </a:t>
            </a:r>
            <a:r>
              <a:rPr lang="en-IN" err="1"/>
              <a:t>System.out.println</a:t>
            </a:r>
            <a:r>
              <a:rPr lang="en-IN"/>
              <a:t>("Return Types: " + </a:t>
            </a:r>
            <a:r>
              <a:rPr lang="en-IN" err="1"/>
              <a:t>m.getReturnType</a:t>
            </a:r>
            <a:r>
              <a:rPr lang="en-IN"/>
              <a:t>());</a:t>
            </a:r>
          </a:p>
          <a:p>
            <a:pPr marL="0" indent="0">
              <a:buNone/>
            </a:pPr>
            <a:r>
              <a:rPr lang="en-IN"/>
              <a:t>        </a:t>
            </a:r>
            <a:r>
              <a:rPr lang="en-IN" err="1"/>
              <a:t>System.out.println</a:t>
            </a:r>
            <a:r>
              <a:rPr lang="en-IN"/>
              <a:t>(" ");</a:t>
            </a:r>
          </a:p>
          <a:p>
            <a:pPr marL="0" indent="0">
              <a:buNone/>
            </a:pPr>
            <a:r>
              <a:rPr lang="en-IN"/>
              <a:t>      }</a:t>
            </a:r>
          </a:p>
          <a:p>
            <a:pPr marL="0" indent="0">
              <a:buNone/>
            </a:pPr>
            <a:r>
              <a:rPr lang="en-IN"/>
              <a:t>    }</a:t>
            </a:r>
          </a:p>
          <a:p>
            <a:pPr marL="0" indent="0">
              <a:buNone/>
            </a:pPr>
            <a:r>
              <a:rPr lang="en-IN"/>
              <a:t>    catch (Exception e) {</a:t>
            </a:r>
          </a:p>
          <a:p>
            <a:pPr marL="0" indent="0">
              <a:buNone/>
            </a:pPr>
            <a:r>
              <a:rPr lang="en-IN"/>
              <a:t>      </a:t>
            </a:r>
            <a:r>
              <a:rPr lang="en-IN" err="1"/>
              <a:t>e.printStackTrace</a:t>
            </a:r>
            <a:r>
              <a:rPr lang="en-IN"/>
              <a:t>();</a:t>
            </a:r>
          </a:p>
          <a:p>
            <a:pPr marL="0" indent="0">
              <a:buNone/>
            </a:pPr>
            <a:r>
              <a:rPr lang="en-IN"/>
              <a:t>    }</a:t>
            </a:r>
          </a:p>
          <a:p>
            <a:pPr marL="0" indent="0">
              <a:buNone/>
            </a:pPr>
            <a:r>
              <a:rPr lang="en-IN"/>
              <a:t>  }</a:t>
            </a:r>
          </a:p>
          <a:p>
            <a:pPr marL="0" indent="0">
              <a:buNone/>
            </a:pPr>
            <a:r>
              <a:rPr lang="en-IN"/>
              <a:t>}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4648200"/>
            <a:ext cx="2953162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685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77200" cy="715962"/>
          </a:xfrm>
        </p:spPr>
        <p:txBody>
          <a:bodyPr>
            <a:normAutofit fontScale="90000"/>
          </a:bodyPr>
          <a:lstStyle/>
          <a:p>
            <a:r>
              <a:rPr lang="en-US" b="1"/>
              <a:t>2. Reflection of Java Fields</a:t>
            </a:r>
            <a:br>
              <a:rPr lang="en-US" b="1"/>
            </a:b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 numCol="2">
            <a:normAutofit fontScale="47500" lnSpcReduction="20000"/>
          </a:bodyPr>
          <a:lstStyle/>
          <a:p>
            <a:pPr marL="0" indent="0">
              <a:buNone/>
            </a:pPr>
            <a:r>
              <a:rPr lang="en-IN"/>
              <a:t>import </a:t>
            </a:r>
            <a:r>
              <a:rPr lang="en-IN" err="1"/>
              <a:t>java.lang.Class</a:t>
            </a:r>
            <a:r>
              <a:rPr lang="en-IN"/>
              <a:t>;</a:t>
            </a:r>
          </a:p>
          <a:p>
            <a:pPr marL="0" indent="0">
              <a:buNone/>
            </a:pPr>
            <a:r>
              <a:rPr lang="en-IN"/>
              <a:t>import </a:t>
            </a:r>
            <a:r>
              <a:rPr lang="en-IN" err="1"/>
              <a:t>java.lang.reflect</a:t>
            </a:r>
            <a:r>
              <a:rPr lang="en-IN"/>
              <a:t>.*;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class Dog {</a:t>
            </a:r>
          </a:p>
          <a:p>
            <a:pPr marL="0" indent="0">
              <a:buNone/>
            </a:pPr>
            <a:r>
              <a:rPr lang="en-IN"/>
              <a:t>  public String type;</a:t>
            </a:r>
          </a:p>
          <a:p>
            <a:pPr marL="0" indent="0">
              <a:buNone/>
            </a:pPr>
            <a:r>
              <a:rPr lang="en-IN"/>
              <a:t>}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class Main {</a:t>
            </a:r>
          </a:p>
          <a:p>
            <a:pPr marL="0" indent="0">
              <a:buNone/>
            </a:pPr>
            <a:r>
              <a:rPr lang="en-IN"/>
              <a:t>  public static void main(String[] </a:t>
            </a:r>
            <a:r>
              <a:rPr lang="en-IN" err="1"/>
              <a:t>args</a:t>
            </a:r>
            <a:r>
              <a:rPr lang="en-IN"/>
              <a:t>) {</a:t>
            </a:r>
          </a:p>
          <a:p>
            <a:pPr marL="0" indent="0">
              <a:buNone/>
            </a:pPr>
            <a:r>
              <a:rPr lang="en-IN"/>
              <a:t>    try {</a:t>
            </a:r>
          </a:p>
          <a:p>
            <a:pPr marL="0" indent="0">
              <a:buNone/>
            </a:pPr>
            <a:r>
              <a:rPr lang="en-IN"/>
              <a:t>      // create an object of Dog</a:t>
            </a:r>
          </a:p>
          <a:p>
            <a:pPr marL="0" indent="0">
              <a:buNone/>
            </a:pPr>
            <a:r>
              <a:rPr lang="en-IN"/>
              <a:t>      Dog d1 = new Dog();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   // create an object of Class</a:t>
            </a:r>
          </a:p>
          <a:p>
            <a:pPr marL="0" indent="0">
              <a:buNone/>
            </a:pPr>
            <a:r>
              <a:rPr lang="en-IN"/>
              <a:t>      // using </a:t>
            </a:r>
            <a:r>
              <a:rPr lang="en-IN" err="1"/>
              <a:t>getClass</a:t>
            </a:r>
            <a:r>
              <a:rPr lang="en-IN"/>
              <a:t>()</a:t>
            </a:r>
          </a:p>
          <a:p>
            <a:pPr marL="0" indent="0">
              <a:buNone/>
            </a:pPr>
            <a:r>
              <a:rPr lang="en-IN"/>
              <a:t>      Class </a:t>
            </a:r>
            <a:r>
              <a:rPr lang="en-IN" err="1"/>
              <a:t>obj</a:t>
            </a:r>
            <a:r>
              <a:rPr lang="en-IN"/>
              <a:t> = d1.getClass();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   // access and set the type field</a:t>
            </a:r>
          </a:p>
          <a:p>
            <a:pPr marL="0" indent="0">
              <a:buNone/>
            </a:pPr>
            <a:r>
              <a:rPr lang="en-IN"/>
              <a:t>      Field field1 = </a:t>
            </a:r>
            <a:r>
              <a:rPr lang="en-IN" err="1"/>
              <a:t>obj.getField</a:t>
            </a:r>
            <a:r>
              <a:rPr lang="en-IN"/>
              <a:t>("type");</a:t>
            </a:r>
          </a:p>
          <a:p>
            <a:pPr marL="0" indent="0">
              <a:buNone/>
            </a:pPr>
            <a:r>
              <a:rPr lang="en-IN"/>
              <a:t>      field1.set(d1, "</a:t>
            </a:r>
            <a:r>
              <a:rPr lang="en-IN" err="1"/>
              <a:t>labrador</a:t>
            </a:r>
            <a:r>
              <a:rPr lang="en-IN"/>
              <a:t>");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   // get the value of the field type</a:t>
            </a:r>
          </a:p>
          <a:p>
            <a:pPr marL="0" indent="0">
              <a:buNone/>
            </a:pPr>
            <a:r>
              <a:rPr lang="en-IN"/>
              <a:t>      String </a:t>
            </a:r>
            <a:r>
              <a:rPr lang="en-IN" err="1"/>
              <a:t>typeValue</a:t>
            </a:r>
            <a:r>
              <a:rPr lang="en-IN"/>
              <a:t> = (String) field1.get(d1);</a:t>
            </a:r>
          </a:p>
          <a:p>
            <a:pPr marL="0" indent="0">
              <a:buNone/>
            </a:pPr>
            <a:r>
              <a:rPr lang="en-IN"/>
              <a:t>      </a:t>
            </a:r>
            <a:r>
              <a:rPr lang="en-IN" err="1"/>
              <a:t>System.out.println</a:t>
            </a:r>
            <a:r>
              <a:rPr lang="en-IN"/>
              <a:t>("Value: " + </a:t>
            </a:r>
            <a:r>
              <a:rPr lang="en-IN" err="1"/>
              <a:t>typeValue</a:t>
            </a:r>
            <a:r>
              <a:rPr lang="en-IN"/>
              <a:t>);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   // get the access modifier of the field type</a:t>
            </a:r>
          </a:p>
          <a:p>
            <a:pPr marL="0" indent="0">
              <a:buNone/>
            </a:pPr>
            <a:r>
              <a:rPr lang="en-IN"/>
              <a:t>      </a:t>
            </a:r>
            <a:r>
              <a:rPr lang="en-IN" err="1"/>
              <a:t>int</a:t>
            </a:r>
            <a:r>
              <a:rPr lang="en-IN"/>
              <a:t> mod = field1.getModifiers();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   // convert the modifier to String form</a:t>
            </a:r>
          </a:p>
          <a:p>
            <a:pPr marL="0" indent="0">
              <a:buNone/>
            </a:pPr>
            <a:r>
              <a:rPr lang="en-IN"/>
              <a:t>      String modifier1 = </a:t>
            </a:r>
            <a:r>
              <a:rPr lang="en-IN" err="1"/>
              <a:t>Modifier.toString</a:t>
            </a:r>
            <a:r>
              <a:rPr lang="en-IN"/>
              <a:t>(mod);</a:t>
            </a:r>
          </a:p>
          <a:p>
            <a:pPr marL="0" indent="0">
              <a:buNone/>
            </a:pPr>
            <a:r>
              <a:rPr lang="en-IN"/>
              <a:t>      </a:t>
            </a:r>
            <a:r>
              <a:rPr lang="en-IN" err="1"/>
              <a:t>System.out.println</a:t>
            </a:r>
            <a:r>
              <a:rPr lang="en-IN"/>
              <a:t>("Modifier: " + modifier1);</a:t>
            </a:r>
          </a:p>
          <a:p>
            <a:pPr marL="0" indent="0">
              <a:buNone/>
            </a:pPr>
            <a:r>
              <a:rPr lang="en-IN"/>
              <a:t>      </a:t>
            </a:r>
            <a:r>
              <a:rPr lang="en-IN" err="1"/>
              <a:t>System.out.println</a:t>
            </a:r>
            <a:r>
              <a:rPr lang="en-IN"/>
              <a:t>(" ");</a:t>
            </a:r>
          </a:p>
          <a:p>
            <a:pPr marL="0" indent="0">
              <a:buNone/>
            </a:pPr>
            <a:r>
              <a:rPr lang="en-IN"/>
              <a:t>    }</a:t>
            </a:r>
          </a:p>
          <a:p>
            <a:pPr marL="0" indent="0">
              <a:buNone/>
            </a:pPr>
            <a:r>
              <a:rPr lang="en-IN"/>
              <a:t>    </a:t>
            </a:r>
          </a:p>
          <a:p>
            <a:pPr marL="0" indent="0">
              <a:buNone/>
            </a:pPr>
            <a:r>
              <a:rPr lang="en-IN"/>
              <a:t>    catch (Exception e) {</a:t>
            </a:r>
          </a:p>
          <a:p>
            <a:pPr marL="0" indent="0">
              <a:buNone/>
            </a:pPr>
            <a:r>
              <a:rPr lang="en-IN"/>
              <a:t>      </a:t>
            </a:r>
            <a:r>
              <a:rPr lang="en-IN" err="1"/>
              <a:t>e.printStackTrace</a:t>
            </a:r>
            <a:r>
              <a:rPr lang="en-IN"/>
              <a:t>();</a:t>
            </a:r>
          </a:p>
          <a:p>
            <a:pPr marL="0" indent="0">
              <a:buNone/>
            </a:pPr>
            <a:r>
              <a:rPr lang="en-IN"/>
              <a:t>    }</a:t>
            </a:r>
          </a:p>
          <a:p>
            <a:pPr marL="0" indent="0">
              <a:buNone/>
            </a:pPr>
            <a:r>
              <a:rPr lang="en-IN"/>
              <a:t>  }</a:t>
            </a:r>
          </a:p>
          <a:p>
            <a:pPr marL="0" indent="0">
              <a:buNone/>
            </a:pPr>
            <a:r>
              <a:rPr lang="en-IN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87108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 and modify private fields 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40000" lnSpcReduction="20000"/>
          </a:bodyPr>
          <a:lstStyle/>
          <a:p>
            <a:pPr marL="0" indent="0">
              <a:buNone/>
            </a:pPr>
            <a:r>
              <a:rPr lang="en-US"/>
              <a:t>import </a:t>
            </a:r>
            <a:r>
              <a:rPr lang="en-US" err="1"/>
              <a:t>java.lang.Class</a:t>
            </a:r>
            <a:r>
              <a:rPr lang="en-US"/>
              <a:t>;</a:t>
            </a:r>
          </a:p>
          <a:p>
            <a:pPr marL="0" indent="0">
              <a:buNone/>
            </a:pPr>
            <a:r>
              <a:rPr lang="en-US"/>
              <a:t>import </a:t>
            </a:r>
            <a:r>
              <a:rPr lang="en-US" err="1"/>
              <a:t>java.lang.reflect</a:t>
            </a:r>
            <a:r>
              <a:rPr lang="en-US"/>
              <a:t>.*;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class Dog {</a:t>
            </a:r>
          </a:p>
          <a:p>
            <a:pPr marL="0" indent="0">
              <a:buNone/>
            </a:pPr>
            <a:r>
              <a:rPr lang="en-US"/>
              <a:t>  private String color;</a:t>
            </a:r>
          </a:p>
          <a:p>
            <a:pPr marL="0" indent="0">
              <a:buNone/>
            </a:pPr>
            <a:r>
              <a:rPr lang="en-US"/>
              <a:t>}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class Main {</a:t>
            </a:r>
          </a:p>
          <a:p>
            <a:pPr marL="0" indent="0">
              <a:buNone/>
            </a:pPr>
            <a:r>
              <a:rPr lang="en-US"/>
              <a:t>  public static void main(String[] </a:t>
            </a:r>
            <a:r>
              <a:rPr lang="en-US" err="1"/>
              <a:t>args</a:t>
            </a:r>
            <a:r>
              <a:rPr lang="en-US"/>
              <a:t>) {</a:t>
            </a:r>
          </a:p>
          <a:p>
            <a:pPr marL="0" indent="0">
              <a:buNone/>
            </a:pPr>
            <a:r>
              <a:rPr lang="en-US"/>
              <a:t>    try {</a:t>
            </a:r>
          </a:p>
          <a:p>
            <a:pPr marL="0" indent="0">
              <a:buNone/>
            </a:pPr>
            <a:r>
              <a:rPr lang="en-US"/>
              <a:t>      // create an object of Dog</a:t>
            </a:r>
          </a:p>
          <a:p>
            <a:pPr marL="0" indent="0">
              <a:buNone/>
            </a:pPr>
            <a:r>
              <a:rPr lang="en-US"/>
              <a:t>      Dog d1 = new Dog();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     // create an object of Class</a:t>
            </a:r>
          </a:p>
          <a:p>
            <a:pPr marL="0" indent="0">
              <a:buNone/>
            </a:pPr>
            <a:r>
              <a:rPr lang="en-US"/>
              <a:t>      // using </a:t>
            </a:r>
            <a:r>
              <a:rPr lang="en-US" err="1"/>
              <a:t>getClass</a:t>
            </a:r>
            <a:r>
              <a:rPr lang="en-US"/>
              <a:t>()</a:t>
            </a:r>
          </a:p>
          <a:p>
            <a:pPr marL="0" indent="0">
              <a:buNone/>
            </a:pPr>
            <a:r>
              <a:rPr lang="en-US"/>
              <a:t>      Class </a:t>
            </a:r>
            <a:r>
              <a:rPr lang="en-US" err="1"/>
              <a:t>obj</a:t>
            </a:r>
            <a:r>
              <a:rPr lang="en-US"/>
              <a:t> = d1.getClass();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     // access the private field color</a:t>
            </a:r>
          </a:p>
          <a:p>
            <a:pPr marL="0" indent="0">
              <a:buNone/>
            </a:pPr>
            <a:r>
              <a:rPr lang="en-US"/>
              <a:t>      Field field1 = </a:t>
            </a:r>
            <a:r>
              <a:rPr lang="en-US" err="1"/>
              <a:t>obj.getDeclaredField</a:t>
            </a:r>
            <a:r>
              <a:rPr lang="en-US"/>
              <a:t>("color");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     // allow modification of the private field</a:t>
            </a:r>
          </a:p>
          <a:p>
            <a:pPr marL="0" indent="0">
              <a:buNone/>
            </a:pPr>
            <a:r>
              <a:rPr lang="en-US"/>
              <a:t>      field1.setAccessible(true);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     // set the value of color</a:t>
            </a:r>
          </a:p>
          <a:p>
            <a:pPr marL="0" indent="0">
              <a:buNone/>
            </a:pPr>
            <a:r>
              <a:rPr lang="en-US"/>
              <a:t>      field1.set(d1, "brown");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     // get the value of field color</a:t>
            </a:r>
          </a:p>
          <a:p>
            <a:pPr marL="0" indent="0">
              <a:buNone/>
            </a:pPr>
            <a:r>
              <a:rPr lang="en-US"/>
              <a:t>      String </a:t>
            </a:r>
            <a:r>
              <a:rPr lang="en-US" err="1"/>
              <a:t>colorValue</a:t>
            </a:r>
            <a:r>
              <a:rPr lang="en-US"/>
              <a:t> = (String) field1.get(d1);</a:t>
            </a:r>
          </a:p>
          <a:p>
            <a:pPr marL="0" indent="0">
              <a:buNone/>
            </a:pPr>
            <a:r>
              <a:rPr lang="en-US"/>
              <a:t>      </a:t>
            </a:r>
            <a:r>
              <a:rPr lang="en-US" err="1"/>
              <a:t>System.out.println</a:t>
            </a:r>
            <a:r>
              <a:rPr lang="en-US"/>
              <a:t>("Value: " + </a:t>
            </a:r>
            <a:r>
              <a:rPr lang="en-US" err="1"/>
              <a:t>colorValue</a:t>
            </a:r>
            <a:r>
              <a:rPr lang="en-US"/>
              <a:t>);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     // get the access modifier of color</a:t>
            </a:r>
          </a:p>
          <a:p>
            <a:pPr marL="0" indent="0">
              <a:buNone/>
            </a:pPr>
            <a:r>
              <a:rPr lang="en-US"/>
              <a:t>      </a:t>
            </a:r>
            <a:r>
              <a:rPr lang="en-US" err="1"/>
              <a:t>int</a:t>
            </a:r>
            <a:r>
              <a:rPr lang="en-US"/>
              <a:t> mod2 = field1.getModifiers();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     // convert the access modifier to string</a:t>
            </a:r>
          </a:p>
          <a:p>
            <a:pPr marL="0" indent="0">
              <a:buNone/>
            </a:pPr>
            <a:r>
              <a:rPr lang="en-US"/>
              <a:t>      String modifier2 = </a:t>
            </a:r>
            <a:r>
              <a:rPr lang="en-US" err="1"/>
              <a:t>Modifier.toString</a:t>
            </a:r>
            <a:r>
              <a:rPr lang="en-US"/>
              <a:t>(mod2);</a:t>
            </a:r>
          </a:p>
          <a:p>
            <a:pPr marL="0" indent="0">
              <a:buNone/>
            </a:pPr>
            <a:r>
              <a:rPr lang="en-US"/>
              <a:t>      </a:t>
            </a:r>
            <a:r>
              <a:rPr lang="en-US" err="1"/>
              <a:t>System.out.println</a:t>
            </a:r>
            <a:r>
              <a:rPr lang="en-US"/>
              <a:t>("Modifier: " + modifier2);</a:t>
            </a:r>
          </a:p>
          <a:p>
            <a:pPr marL="0" indent="0">
              <a:buNone/>
            </a:pPr>
            <a:r>
              <a:rPr lang="en-US"/>
              <a:t>    }</a:t>
            </a:r>
          </a:p>
          <a:p>
            <a:pPr marL="0" indent="0">
              <a:buNone/>
            </a:pPr>
            <a:r>
              <a:rPr lang="en-US"/>
              <a:t>    </a:t>
            </a:r>
          </a:p>
          <a:p>
            <a:pPr marL="0" indent="0">
              <a:buNone/>
            </a:pPr>
            <a:r>
              <a:rPr lang="en-US"/>
              <a:t>    catch (Exception e) {</a:t>
            </a:r>
          </a:p>
          <a:p>
            <a:pPr marL="0" indent="0">
              <a:buNone/>
            </a:pPr>
            <a:r>
              <a:rPr lang="en-US"/>
              <a:t>      </a:t>
            </a:r>
            <a:r>
              <a:rPr lang="en-US" err="1"/>
              <a:t>e.printStackTrace</a:t>
            </a:r>
            <a:r>
              <a:rPr lang="en-US"/>
              <a:t>();</a:t>
            </a:r>
          </a:p>
          <a:p>
            <a:pPr marL="0" indent="0">
              <a:buNone/>
            </a:pPr>
            <a:r>
              <a:rPr lang="en-US"/>
              <a:t>    }</a:t>
            </a:r>
          </a:p>
          <a:p>
            <a:pPr marL="0" indent="0">
              <a:buNone/>
            </a:pPr>
            <a:r>
              <a:rPr lang="en-US"/>
              <a:t>  }</a:t>
            </a:r>
          </a:p>
          <a:p>
            <a:pPr marL="0" indent="0">
              <a:buNone/>
            </a:pPr>
            <a:r>
              <a:rPr lang="en-US"/>
              <a:t>}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298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4209" y="274638"/>
            <a:ext cx="8012591" cy="585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829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3. Reflection of Java Constructor</a:t>
            </a:r>
            <a:br>
              <a:rPr lang="en-US" b="1"/>
            </a:b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 numCol="2">
            <a:normAutofit fontScale="32500" lnSpcReduction="20000"/>
          </a:bodyPr>
          <a:lstStyle/>
          <a:p>
            <a:pPr marL="0" indent="0">
              <a:buNone/>
            </a:pPr>
            <a:r>
              <a:rPr lang="en-IN"/>
              <a:t>import </a:t>
            </a:r>
            <a:r>
              <a:rPr lang="en-IN" err="1"/>
              <a:t>java.lang.Class</a:t>
            </a:r>
            <a:r>
              <a:rPr lang="en-IN"/>
              <a:t>;</a:t>
            </a:r>
          </a:p>
          <a:p>
            <a:pPr marL="0" indent="0">
              <a:buNone/>
            </a:pPr>
            <a:r>
              <a:rPr lang="en-IN"/>
              <a:t>import </a:t>
            </a:r>
            <a:r>
              <a:rPr lang="en-IN" err="1"/>
              <a:t>java.lang.reflect</a:t>
            </a:r>
            <a:r>
              <a:rPr lang="en-IN"/>
              <a:t>.*;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class Dog {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// public constructor without parameter</a:t>
            </a:r>
          </a:p>
          <a:p>
            <a:pPr marL="0" indent="0">
              <a:buNone/>
            </a:pPr>
            <a:r>
              <a:rPr lang="en-IN"/>
              <a:t>  public Dog() {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}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// private constructor with a single parameter</a:t>
            </a:r>
          </a:p>
          <a:p>
            <a:pPr marL="0" indent="0">
              <a:buNone/>
            </a:pPr>
            <a:r>
              <a:rPr lang="en-IN"/>
              <a:t>  private Dog(</a:t>
            </a:r>
            <a:r>
              <a:rPr lang="en-IN" err="1"/>
              <a:t>int</a:t>
            </a:r>
            <a:r>
              <a:rPr lang="en-IN"/>
              <a:t> age) {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}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}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class Main {</a:t>
            </a:r>
          </a:p>
          <a:p>
            <a:pPr marL="0" indent="0">
              <a:buNone/>
            </a:pPr>
            <a:r>
              <a:rPr lang="en-IN"/>
              <a:t>  public static void main(String[] </a:t>
            </a:r>
            <a:r>
              <a:rPr lang="en-IN" err="1"/>
              <a:t>args</a:t>
            </a:r>
            <a:r>
              <a:rPr lang="en-IN"/>
              <a:t>) {</a:t>
            </a:r>
          </a:p>
          <a:p>
            <a:pPr marL="0" indent="0">
              <a:buNone/>
            </a:pPr>
            <a:r>
              <a:rPr lang="en-IN"/>
              <a:t>    try {</a:t>
            </a:r>
          </a:p>
          <a:p>
            <a:pPr marL="0" indent="0">
              <a:buNone/>
            </a:pPr>
            <a:r>
              <a:rPr lang="en-IN"/>
              <a:t>      // create an object of Dog</a:t>
            </a:r>
          </a:p>
          <a:p>
            <a:pPr marL="0" indent="0">
              <a:buNone/>
            </a:pPr>
            <a:r>
              <a:rPr lang="en-IN"/>
              <a:t>      Dog d1 = new Dog();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   // create an object of Class</a:t>
            </a:r>
          </a:p>
          <a:p>
            <a:pPr marL="0" indent="0">
              <a:buNone/>
            </a:pPr>
            <a:r>
              <a:rPr lang="en-IN"/>
              <a:t>      // using </a:t>
            </a:r>
            <a:r>
              <a:rPr lang="en-IN" err="1"/>
              <a:t>getClass</a:t>
            </a:r>
            <a:r>
              <a:rPr lang="en-IN"/>
              <a:t>()</a:t>
            </a:r>
          </a:p>
          <a:p>
            <a:pPr marL="0" indent="0">
              <a:buNone/>
            </a:pPr>
            <a:r>
              <a:rPr lang="en-IN"/>
              <a:t>      Class </a:t>
            </a:r>
            <a:r>
              <a:rPr lang="en-IN" err="1"/>
              <a:t>obj</a:t>
            </a:r>
            <a:r>
              <a:rPr lang="en-IN"/>
              <a:t> = d1.getClass();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   // get all constructors of Dog</a:t>
            </a:r>
          </a:p>
          <a:p>
            <a:pPr marL="0" indent="0">
              <a:buNone/>
            </a:pPr>
            <a:r>
              <a:rPr lang="en-IN"/>
              <a:t>      Constructor[] constructors = </a:t>
            </a:r>
            <a:r>
              <a:rPr lang="en-IN" err="1"/>
              <a:t>obj.getDeclaredConstructors</a:t>
            </a:r>
            <a:r>
              <a:rPr lang="en-IN"/>
              <a:t>();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   for (Constructor c : constructors) {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     // get the name of constructors</a:t>
            </a:r>
          </a:p>
          <a:p>
            <a:pPr marL="0" indent="0">
              <a:buNone/>
            </a:pPr>
            <a:r>
              <a:rPr lang="en-IN"/>
              <a:t>        </a:t>
            </a:r>
            <a:r>
              <a:rPr lang="en-IN" err="1"/>
              <a:t>System.out.println</a:t>
            </a:r>
            <a:r>
              <a:rPr lang="en-IN"/>
              <a:t>("Constructor Name: " + </a:t>
            </a:r>
            <a:r>
              <a:rPr lang="en-IN" err="1"/>
              <a:t>c.getName</a:t>
            </a:r>
            <a:r>
              <a:rPr lang="en-IN"/>
              <a:t>());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     // get the access modifier of constructors</a:t>
            </a:r>
          </a:p>
          <a:p>
            <a:pPr marL="0" indent="0">
              <a:buNone/>
            </a:pPr>
            <a:r>
              <a:rPr lang="en-IN"/>
              <a:t>        // convert it into string form</a:t>
            </a:r>
          </a:p>
          <a:p>
            <a:pPr marL="0" indent="0">
              <a:buNone/>
            </a:pPr>
            <a:r>
              <a:rPr lang="en-IN"/>
              <a:t>        </a:t>
            </a:r>
            <a:r>
              <a:rPr lang="en-IN" err="1"/>
              <a:t>int</a:t>
            </a:r>
            <a:r>
              <a:rPr lang="en-IN"/>
              <a:t> modifier = </a:t>
            </a:r>
            <a:r>
              <a:rPr lang="en-IN" err="1"/>
              <a:t>c.getModifiers</a:t>
            </a:r>
            <a:r>
              <a:rPr lang="en-IN"/>
              <a:t>();</a:t>
            </a:r>
          </a:p>
          <a:p>
            <a:pPr marL="0" indent="0">
              <a:buNone/>
            </a:pPr>
            <a:r>
              <a:rPr lang="en-IN"/>
              <a:t>        String mod = </a:t>
            </a:r>
            <a:r>
              <a:rPr lang="en-IN" err="1"/>
              <a:t>Modifier.toString</a:t>
            </a:r>
            <a:r>
              <a:rPr lang="en-IN"/>
              <a:t>(modifier);</a:t>
            </a:r>
          </a:p>
          <a:p>
            <a:pPr marL="0" indent="0">
              <a:buNone/>
            </a:pPr>
            <a:r>
              <a:rPr lang="en-IN"/>
              <a:t>        </a:t>
            </a:r>
            <a:r>
              <a:rPr lang="en-IN" err="1"/>
              <a:t>System.out.println</a:t>
            </a:r>
            <a:r>
              <a:rPr lang="en-IN"/>
              <a:t>("Modifier: " + mod);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     // get the number of parameters in constructors</a:t>
            </a:r>
          </a:p>
          <a:p>
            <a:pPr marL="0" indent="0">
              <a:buNone/>
            </a:pPr>
            <a:r>
              <a:rPr lang="en-IN"/>
              <a:t>        </a:t>
            </a:r>
            <a:r>
              <a:rPr lang="en-IN" err="1"/>
              <a:t>System.out.println</a:t>
            </a:r>
            <a:r>
              <a:rPr lang="en-IN"/>
              <a:t>("Parameters: " + </a:t>
            </a:r>
            <a:r>
              <a:rPr lang="en-IN" err="1"/>
              <a:t>c.getParameterCount</a:t>
            </a:r>
            <a:r>
              <a:rPr lang="en-IN"/>
              <a:t>());</a:t>
            </a:r>
          </a:p>
          <a:p>
            <a:pPr marL="0" indent="0">
              <a:buNone/>
            </a:pPr>
            <a:r>
              <a:rPr lang="en-IN"/>
              <a:t>        </a:t>
            </a:r>
            <a:r>
              <a:rPr lang="en-IN" err="1"/>
              <a:t>System.out.println</a:t>
            </a:r>
            <a:r>
              <a:rPr lang="en-IN"/>
              <a:t>("");</a:t>
            </a:r>
          </a:p>
          <a:p>
            <a:pPr marL="0" indent="0">
              <a:buNone/>
            </a:pPr>
            <a:r>
              <a:rPr lang="en-IN"/>
              <a:t>      }</a:t>
            </a:r>
          </a:p>
          <a:p>
            <a:pPr marL="0" indent="0">
              <a:buNone/>
            </a:pPr>
            <a:r>
              <a:rPr lang="en-IN"/>
              <a:t>    }</a:t>
            </a:r>
          </a:p>
          <a:p>
            <a:pPr marL="0" indent="0">
              <a:buNone/>
            </a:pPr>
            <a:r>
              <a:rPr lang="en-IN"/>
              <a:t>    </a:t>
            </a:r>
          </a:p>
          <a:p>
            <a:pPr marL="0" indent="0">
              <a:buNone/>
            </a:pPr>
            <a:r>
              <a:rPr lang="en-IN"/>
              <a:t>    catch (Exception e) {</a:t>
            </a:r>
          </a:p>
          <a:p>
            <a:pPr marL="0" indent="0">
              <a:buNone/>
            </a:pPr>
            <a:r>
              <a:rPr lang="en-IN"/>
              <a:t>      </a:t>
            </a:r>
            <a:r>
              <a:rPr lang="en-IN" err="1"/>
              <a:t>e.printStackTrace</a:t>
            </a:r>
            <a:r>
              <a:rPr lang="en-IN"/>
              <a:t>();</a:t>
            </a:r>
          </a:p>
          <a:p>
            <a:pPr marL="0" indent="0">
              <a:buNone/>
            </a:pPr>
            <a:r>
              <a:rPr lang="en-IN"/>
              <a:t>    }</a:t>
            </a:r>
          </a:p>
          <a:p>
            <a:pPr marL="0" indent="0">
              <a:buNone/>
            </a:pPr>
            <a:r>
              <a:rPr lang="en-IN"/>
              <a:t>  }</a:t>
            </a:r>
          </a:p>
          <a:p>
            <a:pPr marL="0" indent="0">
              <a:buNone/>
            </a:pPr>
            <a:r>
              <a:rPr lang="en-IN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94058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74638"/>
            <a:ext cx="8229599" cy="585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408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74638"/>
            <a:ext cx="8229600" cy="551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7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r>
              <a:rPr lang="en-US"/>
              <a:t>The Reflection API is mainly used in:</a:t>
            </a:r>
          </a:p>
          <a:p>
            <a:r>
              <a:rPr lang="en-US"/>
              <a:t>IDE (Integrated Development Environment) e.g. Eclipse, </a:t>
            </a:r>
            <a:r>
              <a:rPr lang="en-US" err="1"/>
              <a:t>MyEclipse</a:t>
            </a:r>
            <a:r>
              <a:rPr lang="en-US"/>
              <a:t>, </a:t>
            </a:r>
            <a:r>
              <a:rPr lang="en-US" err="1"/>
              <a:t>NetBeans</a:t>
            </a:r>
            <a:r>
              <a:rPr lang="en-US"/>
              <a:t> etc.</a:t>
            </a:r>
          </a:p>
          <a:p>
            <a:r>
              <a:rPr lang="en-US"/>
              <a:t>Debugger</a:t>
            </a:r>
          </a:p>
          <a:p>
            <a:r>
              <a:rPr lang="en-US"/>
              <a:t>Test Tools etc.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96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br>
              <a:rPr lang="en-IN" b="1"/>
            </a:br>
            <a:r>
              <a:rPr lang="en-IN" b="1"/>
              <a:t>Example: Normal vs. Reflection</a:t>
            </a:r>
            <a:br>
              <a:rPr lang="en-IN" b="1"/>
            </a:br>
            <a:endParaRPr lang="en-IN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14400" y="-3767515"/>
            <a:ext cx="6781800" cy="11936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Let's look at a simple class called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Cat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class Cat {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private String name = "Kitty";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public void meow() {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("Meow! I am " + name);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kumimoji="0" lang="en-US" altLang="en-US" sz="1800" b="0" i="1" u="none" strike="noStrike" cap="none" normalizeH="0" baseline="0">
              <a:ln>
                <a:noFill/>
              </a:ln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"Normal" Way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This is how you usually write code. You know the class is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Cat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, and you know the method is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meow()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Cat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myCat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new Cat();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myCat.meow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 // Output: Meow! I am Kitty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506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Example: Normal vs. Reflection</a:t>
            </a:r>
            <a:endParaRPr lang="en-IN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588204"/>
            <a:ext cx="7772400" cy="4549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"Reflection" Way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Here, we pretend we don't know the class is a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Cat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until the program is actually running.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We use the class name as a String.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java.lang.reflect.Method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ReflectionDemo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public static void main(String[]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try {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// 1. Load the class using its name as a String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// We are not using the keyword 'Cat' here directly!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Class&lt;?&gt; c =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Class.forName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("Cat");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// 2. Create an instance (object) of that class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Object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myUnknownObject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c.getDeclaredConstructor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newInstance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// 3. Get the method by its name as a String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Method m =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c.getMethod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("meow");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// 4. Invoke (run) the method on the object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m.invoke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myUnknownObject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} catch (Exception e) {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e.printStackTrace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59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7857A61B76164BA98A89D85CEB89F3" ma:contentTypeVersion="3" ma:contentTypeDescription="Create a new document." ma:contentTypeScope="" ma:versionID="c8a03162020c390d372a2549bd4c95cf">
  <xsd:schema xmlns:xsd="http://www.w3.org/2001/XMLSchema" xmlns:xs="http://www.w3.org/2001/XMLSchema" xmlns:p="http://schemas.microsoft.com/office/2006/metadata/properties" xmlns:ns2="55e988a3-ac11-4feb-a8fd-3d3caa5abe9b" targetNamespace="http://schemas.microsoft.com/office/2006/metadata/properties" ma:root="true" ma:fieldsID="20d290c1c7947ca9bde9265cfc388916" ns2:_="">
    <xsd:import namespace="55e988a3-ac11-4feb-a8fd-3d3caa5abe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e988a3-ac11-4feb-a8fd-3d3caa5abe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CEC9DF-23FB-4E81-B8B5-28A263B58C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759639-9E9F-4A51-B9DA-3B296D649B4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CC22B8E-E665-4DCF-8F9E-1A69C5BC8C99}">
  <ds:schemaRefs>
    <ds:schemaRef ds:uri="55e988a3-ac11-4feb-a8fd-3d3caa5abe9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Reflection</vt:lpstr>
      <vt:lpstr>Reflection</vt:lpstr>
      <vt:lpstr>PowerPoint Presentation</vt:lpstr>
      <vt:lpstr>PowerPoint Presentation</vt:lpstr>
      <vt:lpstr>Reflection of Java Classes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Reflection of Java Fields </vt:lpstr>
      <vt:lpstr>access and modify private fields </vt:lpstr>
      <vt:lpstr>PowerPoint Presentation</vt:lpstr>
      <vt:lpstr>3. Reflection of Java Constructor </vt:lpstr>
      <vt:lpstr>PowerPoint Presentation</vt:lpstr>
      <vt:lpstr>PowerPoint Presentation</vt:lpstr>
      <vt:lpstr>PowerPoint Presentation</vt:lpstr>
      <vt:lpstr> Example: Normal vs. Reflection </vt:lpstr>
      <vt:lpstr>Example: Normal vs. 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Reflection</dc:title>
  <dc:creator>admin</dc:creator>
  <cp:revision>1</cp:revision>
  <dcterms:created xsi:type="dcterms:W3CDTF">2006-08-16T00:00:00Z</dcterms:created>
  <dcterms:modified xsi:type="dcterms:W3CDTF">2026-01-23T06:57:00Z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0x0101004F7857A61B76164BA98A89D85CEB89F3</vt:lpwstr>
  </property>
</Properties>
</file>